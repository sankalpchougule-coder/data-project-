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2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039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37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6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18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585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45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907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78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5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35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1842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904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2741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027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16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847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85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9C7AAA-A0F1-447E-899E-AAA1F8E05A72}"/>
              </a:ext>
            </a:extLst>
          </p:cNvPr>
          <p:cNvSpPr/>
          <p:nvPr/>
        </p:nvSpPr>
        <p:spPr>
          <a:xfrm>
            <a:off x="-523982" y="878971"/>
            <a:ext cx="57740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 Black" panose="020B0A04020102020204" pitchFamily="34" charset="0"/>
              </a:rPr>
              <a:t>Trade Dataset Analysis</a:t>
            </a:r>
          </a:p>
        </p:txBody>
      </p:sp>
      <p:pic>
        <p:nvPicPr>
          <p:cNvPr id="1026" name="Picture 2" descr="preencoded.png">
            <a:extLst>
              <a:ext uri="{FF2B5EF4-FFF2-40B4-BE49-F238E27FC236}">
                <a16:creationId xmlns:a16="http://schemas.microsoft.com/office/drawing/2014/main" id="{06504A6C-B528-4FFD-A7FB-37616CE08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0"/>
            <a:ext cx="4570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6350C75-3B49-4688-9443-9CDE2AA8196E}"/>
              </a:ext>
            </a:extLst>
          </p:cNvPr>
          <p:cNvSpPr/>
          <p:nvPr/>
        </p:nvSpPr>
        <p:spPr>
          <a:xfrm>
            <a:off x="1188387" y="1333058"/>
            <a:ext cx="31164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– Visualization &amp; Insights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49556A-B757-4F9F-89E2-FDAF8D945310}"/>
              </a:ext>
            </a:extLst>
          </p:cNvPr>
          <p:cNvSpPr txBox="1"/>
          <p:nvPr/>
        </p:nvSpPr>
        <p:spPr>
          <a:xfrm>
            <a:off x="974559" y="6211669"/>
            <a:ext cx="4463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Presentation By-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Sankalp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Parasharam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Chougule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 Black" panose="020B0A04020102020204" pitchFamily="34" charset="0"/>
                <a:cs typeface="Arial" panose="020B0604020202020204" pitchFamily="34" charset="0"/>
              </a:rPr>
              <a:t>Data Journey</a:t>
            </a:r>
            <a:endParaRPr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905000"/>
            <a:ext cx="6591985" cy="3777622"/>
          </a:xfrm>
        </p:spPr>
        <p:txBody>
          <a:bodyPr>
            <a:normAutofit/>
          </a:bodyPr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Dataset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Overview 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- Data Cleaning &amp; Pre-processing</a:t>
            </a:r>
          </a:p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- EDA Insights</a:t>
            </a:r>
          </a:p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- Power BI Dashboard</a:t>
            </a:r>
          </a:p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- SQL Analysis</a:t>
            </a:r>
          </a:p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Conclusion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822" y="70657"/>
            <a:ext cx="6589199" cy="1280890"/>
          </a:xfrm>
        </p:spPr>
        <p:txBody>
          <a:bodyPr/>
          <a:lstStyle/>
          <a:p>
            <a:pPr algn="ctr"/>
            <a:r>
              <a:rPr b="1" dirty="0"/>
              <a:t>Dataset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F26C2D-983C-4B70-A00E-1DFE77FD8E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59" r="5255"/>
          <a:stretch/>
        </p:blipFill>
        <p:spPr>
          <a:xfrm>
            <a:off x="194606" y="1345389"/>
            <a:ext cx="3212432" cy="2083611"/>
          </a:xfrm>
          <a:prstGeom prst="homePlate">
            <a:avLst>
              <a:gd name="adj" fmla="val 25748"/>
            </a:avLst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0ECAEE5-2FB9-49E6-B5E5-10A3FB9ABC0B}"/>
              </a:ext>
            </a:extLst>
          </p:cNvPr>
          <p:cNvSpPr/>
          <p:nvPr/>
        </p:nvSpPr>
        <p:spPr>
          <a:xfrm>
            <a:off x="3348788" y="1216855"/>
            <a:ext cx="61561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Data Structure </a:t>
            </a:r>
          </a:p>
          <a:p>
            <a:endParaRPr lang="en-US" b="1" dirty="0">
              <a:latin typeface="Arial Black" panose="020B0A040201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Our dataset captures multidimensional trade metrics across time, geography, and product categories: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342A53-A3BD-454F-9346-A412951F374C}"/>
              </a:ext>
            </a:extLst>
          </p:cNvPr>
          <p:cNvSpPr/>
          <p:nvPr/>
        </p:nvSpPr>
        <p:spPr>
          <a:xfrm>
            <a:off x="3348788" y="2642975"/>
            <a:ext cx="556732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Temporal: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Period dates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ym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 tracking monthly trends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Directional: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Import/export classification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exp_imp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Geographic: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Country and customs regions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Product: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HS9 codes for commodity classification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Metrics: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Quantities (Q1, Q2) and transaction values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05" y="1335213"/>
            <a:ext cx="8530389" cy="843743"/>
          </a:xfrm>
        </p:spPr>
        <p:txBody>
          <a:bodyPr>
            <a:normAutofit/>
          </a:bodyPr>
          <a:lstStyle/>
          <a:p>
            <a:pPr algn="ctr"/>
            <a:r>
              <a:rPr sz="2800" dirty="0">
                <a:latin typeface="Arial Black" panose="020B0A04020102020204" pitchFamily="34" charset="0"/>
              </a:rPr>
              <a:t>Data Cleaning &amp;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02953" y="6858000"/>
            <a:ext cx="6591985" cy="3777622"/>
          </a:xfrm>
        </p:spPr>
        <p:txBody>
          <a:bodyPr/>
          <a:lstStyle/>
          <a:p>
            <a:r>
              <a:rPr dirty="0"/>
              <a:t>• Renamed all columns for better readability</a:t>
            </a:r>
          </a:p>
          <a:p>
            <a:r>
              <a:rPr dirty="0"/>
              <a:t>• Converted </a:t>
            </a:r>
            <a:r>
              <a:rPr dirty="0" err="1"/>
              <a:t>ym</a:t>
            </a:r>
            <a:r>
              <a:rPr dirty="0"/>
              <a:t> → </a:t>
            </a:r>
            <a:r>
              <a:rPr dirty="0" err="1"/>
              <a:t>PeriodDate</a:t>
            </a:r>
            <a:r>
              <a:rPr dirty="0"/>
              <a:t> using DAX</a:t>
            </a:r>
          </a:p>
          <a:p>
            <a:r>
              <a:rPr dirty="0"/>
              <a:t>• Converted </a:t>
            </a:r>
            <a:r>
              <a:rPr dirty="0" err="1"/>
              <a:t>categoricals</a:t>
            </a:r>
            <a:r>
              <a:rPr dirty="0"/>
              <a:t> (country, </a:t>
            </a:r>
            <a:r>
              <a:rPr dirty="0" err="1"/>
              <a:t>hs_code</a:t>
            </a:r>
            <a:r>
              <a:rPr dirty="0"/>
              <a:t>, </a:t>
            </a:r>
            <a:r>
              <a:rPr dirty="0" err="1"/>
              <a:t>exp_imp</a:t>
            </a:r>
            <a:r>
              <a:rPr dirty="0"/>
              <a:t>) to Text</a:t>
            </a:r>
          </a:p>
          <a:p>
            <a:r>
              <a:rPr dirty="0"/>
              <a:t>• Removed inconsistent entries &amp; performed datatype validation</a:t>
            </a:r>
          </a:p>
          <a:p>
            <a:r>
              <a:rPr dirty="0"/>
              <a:t>• Generated a 100K sample dataset for testing and EDA</a:t>
            </a:r>
          </a:p>
          <a:p>
            <a:endParaRPr dirty="0"/>
          </a:p>
        </p:txBody>
      </p:sp>
      <p:pic>
        <p:nvPicPr>
          <p:cNvPr id="3074" name="Picture 2" descr="preencoded.png">
            <a:extLst>
              <a:ext uri="{FF2B5EF4-FFF2-40B4-BE49-F238E27FC236}">
                <a16:creationId xmlns:a16="http://schemas.microsoft.com/office/drawing/2014/main" id="{81E36AB5-9F97-479F-929A-EE1CB6177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88"/>
            <a:ext cx="9144000" cy="133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5DD8685-62F2-425C-9CD3-559E885240B6}"/>
              </a:ext>
            </a:extLst>
          </p:cNvPr>
          <p:cNvSpPr/>
          <p:nvPr/>
        </p:nvSpPr>
        <p:spPr>
          <a:xfrm>
            <a:off x="-300789" y="2178957"/>
            <a:ext cx="532998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Black" panose="020B0A04020102020204" pitchFamily="34" charset="0"/>
              </a:rPr>
              <a:t> Column Standardization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Renamed all fields using clear, consistent naming conventions for improved readability and         downstream analysis 2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35B942-6CFA-4B45-A033-73F3748334B5}"/>
              </a:ext>
            </a:extLst>
          </p:cNvPr>
          <p:cNvSpPr/>
          <p:nvPr/>
        </p:nvSpPr>
        <p:spPr>
          <a:xfrm>
            <a:off x="4571999" y="2184652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Type Conversion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Transformed categorical dimensions (country,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hs_code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exp_imp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to text format ensuring data integrity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778965-AC18-41B3-8D52-E5B98097FB24}"/>
              </a:ext>
            </a:extLst>
          </p:cNvPr>
          <p:cNvSpPr/>
          <p:nvPr/>
        </p:nvSpPr>
        <p:spPr>
          <a:xfrm>
            <a:off x="577516" y="4635639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Date Engineering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Converted raw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values into structured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PeriodDate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format using DAX for accurate time-series modeling 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F8E6A-37D7-4CA0-A8E9-FF2CE2E2EB8A}"/>
              </a:ext>
            </a:extLst>
          </p:cNvPr>
          <p:cNvSpPr/>
          <p:nvPr/>
        </p:nvSpPr>
        <p:spPr>
          <a:xfrm>
            <a:off x="4864769" y="4641334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Quality Validation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Removed inconsistent entries, validated datatypes, and created a 100K sample for exploratory testing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474" y="54289"/>
            <a:ext cx="7066547" cy="1280890"/>
          </a:xfrm>
        </p:spPr>
        <p:txBody>
          <a:bodyPr>
            <a:normAutofit/>
          </a:bodyPr>
          <a:lstStyle/>
          <a:p>
            <a:r>
              <a:rPr sz="2400" dirty="0">
                <a:latin typeface="Arial Black" panose="020B0A04020102020204" pitchFamily="34" charset="0"/>
              </a:rPr>
              <a:t>Exploratory Data Analysis (EDA)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5D1076-B386-4FE6-81AF-E89DAFA53842}"/>
              </a:ext>
            </a:extLst>
          </p:cNvPr>
          <p:cNvSpPr/>
          <p:nvPr/>
        </p:nvSpPr>
        <p:spPr>
          <a:xfrm>
            <a:off x="1442557" y="874184"/>
            <a:ext cx="3056022" cy="180000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Seasonal </a:t>
            </a:r>
            <a:r>
              <a:rPr lang="en-IN" dirty="0" err="1">
                <a:latin typeface="Arial Black" panose="020B0A04020102020204" pitchFamily="34" charset="0"/>
              </a:rPr>
              <a:t>Behavior</a:t>
            </a:r>
            <a:endParaRPr lang="en-IN" dirty="0">
              <a:latin typeface="Arial Black" panose="020B0A04020102020204" pitchFamily="34" charset="0"/>
            </a:endParaRPr>
          </a:p>
          <a:p>
            <a:pPr algn="ctr"/>
            <a:endParaRPr lang="en-IN" dirty="0">
              <a:latin typeface="Arial Black" panose="020B0A040201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Monthly trade values exhibit clear seasonal patterns with predictable peaks and troughs throughout the year</a:t>
            </a:r>
          </a:p>
          <a:p>
            <a:br>
              <a:rPr lang="en-US" dirty="0"/>
            </a:br>
            <a:br>
              <a:rPr lang="en-IN" dirty="0">
                <a:latin typeface="Arial Black" panose="020B0A04020102020204" pitchFamily="34" charset="0"/>
              </a:rPr>
            </a:b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4EFA53-CE17-4290-ACC9-1229F859B998}"/>
              </a:ext>
            </a:extLst>
          </p:cNvPr>
          <p:cNvSpPr/>
          <p:nvPr/>
        </p:nvSpPr>
        <p:spPr>
          <a:xfrm>
            <a:off x="4981630" y="1858400"/>
            <a:ext cx="2941103" cy="180000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Trade Balance</a:t>
            </a:r>
          </a:p>
          <a:p>
            <a:pPr algn="ctr"/>
            <a:endParaRPr lang="en-IN" dirty="0">
              <a:latin typeface="Arial Black" panose="020B0A040201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Import versus export distribution analysis identified key imbalances across regions</a:t>
            </a:r>
          </a:p>
          <a:p>
            <a:br>
              <a:rPr lang="en-IN" dirty="0"/>
            </a:br>
            <a:endParaRPr lang="en-IN" dirty="0"/>
          </a:p>
          <a:p>
            <a:br>
              <a:rPr lang="en-IN" dirty="0"/>
            </a:b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1B28A-4DE2-442C-83FC-2D442258AA96}"/>
              </a:ext>
            </a:extLst>
          </p:cNvPr>
          <p:cNvSpPr/>
          <p:nvPr/>
        </p:nvSpPr>
        <p:spPr>
          <a:xfrm>
            <a:off x="4981630" y="4903887"/>
            <a:ext cx="3216509" cy="180000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Top Commodities</a:t>
            </a:r>
          </a:p>
          <a:p>
            <a:endParaRPr lang="en-IN" dirty="0">
              <a:latin typeface="Arial Black" panose="020B0A040201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Specific HS codes dominate transaction volumes, representing critical trade corridors</a:t>
            </a:r>
          </a:p>
          <a:p>
            <a:br>
              <a:rPr lang="en-IN" dirty="0"/>
            </a:br>
            <a:endParaRPr lang="en-IN" dirty="0">
              <a:latin typeface="Arial Black" panose="020B0A04020102020204" pitchFamily="34" charset="0"/>
            </a:endParaRPr>
          </a:p>
          <a:p>
            <a:br>
              <a:rPr lang="en-IN" dirty="0"/>
            </a:b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2A4D3A-726C-4087-8BBB-8133E9ABD01B}"/>
              </a:ext>
            </a:extLst>
          </p:cNvPr>
          <p:cNvSpPr/>
          <p:nvPr/>
        </p:nvSpPr>
        <p:spPr>
          <a:xfrm>
            <a:off x="1282070" y="3755139"/>
            <a:ext cx="3216509" cy="180000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Regional Contribution</a:t>
            </a:r>
          </a:p>
          <a:p>
            <a:pPr algn="ctr"/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Customs regions show varying participation levels in global trade networks</a:t>
            </a:r>
          </a:p>
          <a:p>
            <a:br>
              <a:rPr lang="en-US" dirty="0"/>
            </a:br>
            <a:endParaRPr lang="en-IN" dirty="0">
              <a:latin typeface="Arial Black" panose="020B0A04020102020204" pitchFamily="34" charset="0"/>
            </a:endParaRPr>
          </a:p>
          <a:p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7382" y="89854"/>
            <a:ext cx="7322049" cy="1280890"/>
          </a:xfrm>
        </p:spPr>
        <p:txBody>
          <a:bodyPr>
            <a:normAutofit/>
          </a:bodyPr>
          <a:lstStyle/>
          <a:p>
            <a:r>
              <a:rPr sz="2800" dirty="0">
                <a:latin typeface="Arial Black" panose="020B0A04020102020204" pitchFamily="34" charset="0"/>
              </a:rPr>
              <a:t>Power BI Dashboard Highlights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30848A-CA64-4583-B7B4-DC798508A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1738"/>
            <a:ext cx="9144000" cy="61962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0A7890-34B5-4BFC-9ECB-539942B7DB04}"/>
              </a:ext>
            </a:extLst>
          </p:cNvPr>
          <p:cNvSpPr/>
          <p:nvPr/>
        </p:nvSpPr>
        <p:spPr>
          <a:xfrm>
            <a:off x="1410731" y="838019"/>
            <a:ext cx="5241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 Black" panose="020B0A04020102020204" pitchFamily="34" charset="0"/>
              </a:rPr>
              <a:t>Total Value (First Bar Chart — 133bn)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E0B995-E72D-4EFA-B818-4050BB28D412}"/>
              </a:ext>
            </a:extLst>
          </p:cNvPr>
          <p:cNvSpPr/>
          <p:nvPr/>
        </p:nvSpPr>
        <p:spPr>
          <a:xfrm>
            <a:off x="673768" y="1345032"/>
            <a:ext cx="89635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chart shows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total trade value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aggregated across the entire dataset.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F01A53-82EA-4F19-9E02-AD3BA5005C75}"/>
              </a:ext>
            </a:extLst>
          </p:cNvPr>
          <p:cNvSpPr/>
          <p:nvPr/>
        </p:nvSpPr>
        <p:spPr>
          <a:xfrm>
            <a:off x="861319" y="1873893"/>
            <a:ext cx="63406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Observation: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total trade value for the period analyzed is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133 billion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acts as the baseline metric for comparing import, export, and product performance.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F7D90C-6A65-4995-BBF6-9EDCCF9B4514}"/>
              </a:ext>
            </a:extLst>
          </p:cNvPr>
          <p:cNvSpPr/>
          <p:nvPr/>
        </p:nvSpPr>
        <p:spPr>
          <a:xfrm>
            <a:off x="1411792" y="3410255"/>
            <a:ext cx="47230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2. Total Value by Month (Line Chart)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834C5B-75A5-4884-BB96-F9EEC19EB207}"/>
              </a:ext>
            </a:extLst>
          </p:cNvPr>
          <p:cNvSpPr/>
          <p:nvPr/>
        </p:nvSpPr>
        <p:spPr>
          <a:xfrm>
            <a:off x="673768" y="3946343"/>
            <a:ext cx="96372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line chart displays the month-wise trend in total trade value across the year.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C5A02E-20AA-4FD2-8565-BDD4964FF9D7}"/>
              </a:ext>
            </a:extLst>
          </p:cNvPr>
          <p:cNvSpPr/>
          <p:nvPr/>
        </p:nvSpPr>
        <p:spPr>
          <a:xfrm>
            <a:off x="1167063" y="4469922"/>
            <a:ext cx="818147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Observations: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highest trading month is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January (~14bn)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noticeable decline occurs between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February → May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reaching the lowest point around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May (~9.8bn)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moderate recovery is observed from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June to September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Slight fluctuations occur from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September to December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ending the year stronger.</a:t>
            </a:r>
          </a:p>
        </p:txBody>
      </p:sp>
    </p:spTree>
    <p:extLst>
      <p:ext uri="{BB962C8B-B14F-4D97-AF65-F5344CB8AC3E}">
        <p14:creationId xmlns:p14="http://schemas.microsoft.com/office/powerpoint/2010/main" val="2644504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531EE66-71E0-4C82-B574-CF989CF3FE7B}"/>
              </a:ext>
            </a:extLst>
          </p:cNvPr>
          <p:cNvSpPr/>
          <p:nvPr/>
        </p:nvSpPr>
        <p:spPr>
          <a:xfrm>
            <a:off x="1449977" y="789892"/>
            <a:ext cx="4912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3. Total Quantity (Bar Chart — 210bn)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3CD5B7-BA28-49FB-A4E0-BCB606D3548B}"/>
              </a:ext>
            </a:extLst>
          </p:cNvPr>
          <p:cNvSpPr/>
          <p:nvPr/>
        </p:nvSpPr>
        <p:spPr>
          <a:xfrm>
            <a:off x="1449977" y="1359569"/>
            <a:ext cx="81814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chart shows the total combined traded quantity across Q1 and Q2.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17D7F5-B754-480F-902F-A9D9F2A07626}"/>
              </a:ext>
            </a:extLst>
          </p:cNvPr>
          <p:cNvSpPr/>
          <p:nvPr/>
        </p:nvSpPr>
        <p:spPr>
          <a:xfrm>
            <a:off x="794085" y="1941585"/>
            <a:ext cx="834991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Observations: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Total traded volume is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210 billion units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significantly higher than the value scale.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suggests that the dataset contains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large-quantity, low-value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items in some HS code categories.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770F13-38D3-435B-A097-558BDA8F9EA0}"/>
              </a:ext>
            </a:extLst>
          </p:cNvPr>
          <p:cNvSpPr/>
          <p:nvPr/>
        </p:nvSpPr>
        <p:spPr>
          <a:xfrm>
            <a:off x="1383631" y="3516052"/>
            <a:ext cx="83499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4. Export Value vs Import Value vs Total Value (Donut Chart)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3F50EE-C490-40D9-AC46-B67716D44DB5}"/>
              </a:ext>
            </a:extLst>
          </p:cNvPr>
          <p:cNvSpPr/>
          <p:nvPr/>
        </p:nvSpPr>
        <p:spPr>
          <a:xfrm>
            <a:off x="1449977" y="4136412"/>
            <a:ext cx="736332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donut chart compares the share of exports, imports, and total value.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225125-0C01-4CB5-A686-5E3C08E1564D}"/>
              </a:ext>
            </a:extLst>
          </p:cNvPr>
          <p:cNvSpPr/>
          <p:nvPr/>
        </p:nvSpPr>
        <p:spPr>
          <a:xfrm>
            <a:off x="1281536" y="4687650"/>
            <a:ext cx="834991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Observations: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Total Value (50%) — 133bn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acts as the central reference.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Exports = 56bn (21%)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Imports = 77bn (29%)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Imports exceed exports → indicating 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trade deficit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trade deficit can imply domestic demand &gt; domestic supply.</a:t>
            </a:r>
          </a:p>
        </p:txBody>
      </p:sp>
    </p:spTree>
    <p:extLst>
      <p:ext uri="{BB962C8B-B14F-4D97-AF65-F5344CB8AC3E}">
        <p14:creationId xmlns:p14="http://schemas.microsoft.com/office/powerpoint/2010/main" val="3988922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DD30E0-F2E1-41DA-8F80-135DB7CF0557}"/>
              </a:ext>
            </a:extLst>
          </p:cNvPr>
          <p:cNvSpPr/>
          <p:nvPr/>
        </p:nvSpPr>
        <p:spPr>
          <a:xfrm>
            <a:off x="1419726" y="807804"/>
            <a:ext cx="65331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latin typeface="Arial Black" panose="020B0A04020102020204" pitchFamily="34" charset="0"/>
              </a:rPr>
              <a:t>5. TotalQ1 vs TotalQ2 (Horizontal Bar Comparison)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3CADB6-BFFD-4AD8-8097-FB0A72B125B3}"/>
              </a:ext>
            </a:extLst>
          </p:cNvPr>
          <p:cNvSpPr/>
          <p:nvPr/>
        </p:nvSpPr>
        <p:spPr>
          <a:xfrm>
            <a:off x="1058778" y="1338880"/>
            <a:ext cx="725504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visual compares the two quantity metrics Q1 and Q2.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AC34CA-430E-4EBC-9219-E1943A2C1626}"/>
              </a:ext>
            </a:extLst>
          </p:cNvPr>
          <p:cNvSpPr/>
          <p:nvPr/>
        </p:nvSpPr>
        <p:spPr>
          <a:xfrm>
            <a:off x="1239253" y="1968170"/>
            <a:ext cx="72550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Observations: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TotalQ1 = 40bn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TotalQ2 = 169bn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Q2 is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421% higher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than Q1.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suggests Q2 represents the primary measurement for quantity (major traded volume category).</a:t>
            </a:r>
          </a:p>
        </p:txBody>
      </p:sp>
    </p:spTree>
    <p:extLst>
      <p:ext uri="{BB962C8B-B14F-4D97-AF65-F5344CB8AC3E}">
        <p14:creationId xmlns:p14="http://schemas.microsoft.com/office/powerpoint/2010/main" val="1749830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306333"/>
            <a:ext cx="6589199" cy="1280890"/>
          </a:xfrm>
        </p:spPr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SQL-Based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9CBC4E-A1CF-4F6B-BE34-38F56745DBBC}"/>
              </a:ext>
            </a:extLst>
          </p:cNvPr>
          <p:cNvSpPr/>
          <p:nvPr/>
        </p:nvSpPr>
        <p:spPr>
          <a:xfrm>
            <a:off x="1357442" y="1217891"/>
            <a:ext cx="3662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Structured Query Approach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26E9E1-BC7B-4A84-AC20-4E3F34FC3E47}"/>
              </a:ext>
            </a:extLst>
          </p:cNvPr>
          <p:cNvSpPr/>
          <p:nvPr/>
        </p:nvSpPr>
        <p:spPr>
          <a:xfrm>
            <a:off x="365054" y="1673805"/>
            <a:ext cx="87789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We leveraged SQL to validate our Power BI findings and extract additional intelligence from the dataset: 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A7838A-FB3F-4671-8C94-1008C7C6536C}"/>
              </a:ext>
            </a:extLst>
          </p:cNvPr>
          <p:cNvSpPr/>
          <p:nvPr/>
        </p:nvSpPr>
        <p:spPr>
          <a:xfrm>
            <a:off x="474759" y="2345162"/>
            <a:ext cx="28277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Black" panose="020B0A04020102020204" pitchFamily="34" charset="0"/>
              </a:rPr>
              <a:t>Schema Validation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2898B7-6A51-4F5E-812E-E91FC504516A}"/>
              </a:ext>
            </a:extLst>
          </p:cNvPr>
          <p:cNvSpPr/>
          <p:nvPr/>
        </p:nvSpPr>
        <p:spPr>
          <a:xfrm>
            <a:off x="1014664" y="2705837"/>
            <a:ext cx="75197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Confirmed data structure integrity and relationship consistency across all tables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AA0F82-507B-4FDA-B77A-95EDC6CD49DB}"/>
              </a:ext>
            </a:extLst>
          </p:cNvPr>
          <p:cNvSpPr/>
          <p:nvPr/>
        </p:nvSpPr>
        <p:spPr>
          <a:xfrm>
            <a:off x="474759" y="3306982"/>
            <a:ext cx="4434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Black" panose="020B0A04020102020204" pitchFamily="34" charset="0"/>
              </a:rPr>
              <a:t>Multi-Dimensional Aggregation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99AB98-6757-48BB-8947-9F29A2C5ED10}"/>
              </a:ext>
            </a:extLst>
          </p:cNvPr>
          <p:cNvSpPr/>
          <p:nvPr/>
        </p:nvSpPr>
        <p:spPr>
          <a:xfrm>
            <a:off x="893472" y="3676314"/>
            <a:ext cx="82536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Computed trade values grouped by country, year, customs region, and HS code hierarchies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490F76-F336-4E28-AAF4-2079489E3D26}"/>
              </a:ext>
            </a:extLst>
          </p:cNvPr>
          <p:cNvSpPr/>
          <p:nvPr/>
        </p:nvSpPr>
        <p:spPr>
          <a:xfrm>
            <a:off x="685006" y="4630421"/>
            <a:ext cx="32358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Black" panose="020B0A04020102020204" pitchFamily="34" charset="0"/>
              </a:rPr>
              <a:t>Performance Analysis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9F0EBB-6DAC-44DC-B07E-D5F37B333A5C}"/>
              </a:ext>
            </a:extLst>
          </p:cNvPr>
          <p:cNvSpPr/>
          <p:nvPr/>
        </p:nvSpPr>
        <p:spPr>
          <a:xfrm>
            <a:off x="1014664" y="5024041"/>
            <a:ext cx="74444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Identified top-performing commodities based on transaction frequency and value thresholds 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13836"/>
            <a:ext cx="6589199" cy="1280890"/>
          </a:xfrm>
        </p:spPr>
        <p:txBody>
          <a:bodyPr/>
          <a:lstStyle/>
          <a:p>
            <a:pPr algn="ctr"/>
            <a:r>
              <a:rPr dirty="0">
                <a:latin typeface="Arial Black" panose="020B0A04020102020204" pitchFamily="34" charset="0"/>
              </a:rPr>
              <a:t>Conclusion</a:t>
            </a:r>
          </a:p>
        </p:txBody>
      </p:sp>
      <p:pic>
        <p:nvPicPr>
          <p:cNvPr id="6146" name="Picture 2" descr="preencoded.png">
            <a:extLst>
              <a:ext uri="{FF2B5EF4-FFF2-40B4-BE49-F238E27FC236}">
                <a16:creationId xmlns:a16="http://schemas.microsoft.com/office/drawing/2014/main" id="{6FD80602-F99E-42A1-AE52-550051A31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778" y="1586367"/>
            <a:ext cx="7387389" cy="337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20F6D9A-1865-4EC0-82DD-354A960807B6}"/>
              </a:ext>
            </a:extLst>
          </p:cNvPr>
          <p:cNvSpPr/>
          <p:nvPr/>
        </p:nvSpPr>
        <p:spPr>
          <a:xfrm>
            <a:off x="1422146" y="3990291"/>
            <a:ext cx="1398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Raw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1C5100-9A3A-4A1A-91CB-BA0F4F01DEC6}"/>
              </a:ext>
            </a:extLst>
          </p:cNvPr>
          <p:cNvSpPr/>
          <p:nvPr/>
        </p:nvSpPr>
        <p:spPr>
          <a:xfrm>
            <a:off x="2962355" y="3660700"/>
            <a:ext cx="2040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Clean Dataset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E18A43-877F-4AE0-A051-BFF605BE9A0A}"/>
              </a:ext>
            </a:extLst>
          </p:cNvPr>
          <p:cNvSpPr/>
          <p:nvPr/>
        </p:nvSpPr>
        <p:spPr>
          <a:xfrm>
            <a:off x="5143765" y="3990291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Insights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ED3BBD-DB6D-42B5-AA31-7F811F34D53D}"/>
              </a:ext>
            </a:extLst>
          </p:cNvPr>
          <p:cNvSpPr/>
          <p:nvPr/>
        </p:nvSpPr>
        <p:spPr>
          <a:xfrm>
            <a:off x="6675542" y="3605827"/>
            <a:ext cx="1536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Dashboard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5E96E7-74F5-4E87-B887-F101755A96BB}"/>
              </a:ext>
            </a:extLst>
          </p:cNvPr>
          <p:cNvSpPr/>
          <p:nvPr/>
        </p:nvSpPr>
        <p:spPr>
          <a:xfrm>
            <a:off x="902371" y="4882300"/>
            <a:ext cx="824162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Our comprehensive analysis transformed 5.3 million raw trade records into actionable business intelligence through systematic data preparation, exploratory analysis, and visualization.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105</TotalTime>
  <Words>706</Words>
  <Application>Microsoft Office PowerPoint</Application>
  <PresentationFormat>On-screen Show (4:3)</PresentationFormat>
  <Paragraphs>110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Century Gothic</vt:lpstr>
      <vt:lpstr>Wingdings 3</vt:lpstr>
      <vt:lpstr>Wisp</vt:lpstr>
      <vt:lpstr>PowerPoint Presentation</vt:lpstr>
      <vt:lpstr>Data Journey</vt:lpstr>
      <vt:lpstr>Dataset Overview</vt:lpstr>
      <vt:lpstr>Data Cleaning &amp; Transformation</vt:lpstr>
      <vt:lpstr>Exploratory Data Analysis (EDA)</vt:lpstr>
      <vt:lpstr>Power BI Dashboard Highlights</vt:lpstr>
      <vt:lpstr>PowerPoint Presentation</vt:lpstr>
      <vt:lpstr>PowerPoint Presentation</vt:lpstr>
      <vt:lpstr>PowerPoint Presentation</vt:lpstr>
      <vt:lpstr>SQL-Based Analysis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sankalp chougule</dc:creator>
  <cp:keywords/>
  <dc:description>generated using python-pptx</dc:description>
  <cp:lastModifiedBy>hp</cp:lastModifiedBy>
  <cp:revision>12</cp:revision>
  <dcterms:created xsi:type="dcterms:W3CDTF">2013-01-27T09:14:16Z</dcterms:created>
  <dcterms:modified xsi:type="dcterms:W3CDTF">2026-01-28T12:18:02Z</dcterms:modified>
  <cp:category/>
</cp:coreProperties>
</file>